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9" r:id="rId4"/>
    <p:sldId id="260" r:id="rId5"/>
    <p:sldId id="261" r:id="rId6"/>
    <p:sldId id="262" r:id="rId7"/>
    <p:sldId id="264" r:id="rId8"/>
    <p:sldId id="265" r:id="rId9"/>
    <p:sldId id="266" r:id="rId10"/>
    <p:sldId id="267" r:id="rId11"/>
    <p:sldId id="268" r:id="rId12"/>
    <p:sldId id="26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E49355-80ED-47D2-8B1E-9A0C53A0DA18}">
          <p14:sldIdLst>
            <p14:sldId id="256"/>
            <p14:sldId id="258"/>
            <p14:sldId id="259"/>
            <p14:sldId id="260"/>
            <p14:sldId id="261"/>
            <p14:sldId id="262"/>
            <p14:sldId id="264"/>
            <p14:sldId id="265"/>
            <p14:sldId id="266"/>
            <p14:sldId id="267"/>
            <p14:sldId id="268"/>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0734" autoAdjust="0"/>
  </p:normalViewPr>
  <p:slideViewPr>
    <p:cSldViewPr>
      <p:cViewPr varScale="1">
        <p:scale>
          <a:sx n="86" d="100"/>
          <a:sy n="86" d="100"/>
        </p:scale>
        <p:origin x="1493"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942AD9-36DE-4DD0-AF0A-E211DB78D0B5}" type="datetimeFigureOut">
              <a:rPr lang="en-US" smtClean="0"/>
              <a:t>2/15/2026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916266-2922-41AE-BB9A-0E75A4DF5522}" type="slidenum">
              <a:rPr lang="en-US" smtClean="0"/>
              <a:t>‹#›</a:t>
            </a:fld>
            <a:endParaRPr lang="en-US"/>
          </a:p>
        </p:txBody>
      </p:sp>
    </p:spTree>
    <p:extLst>
      <p:ext uri="{BB962C8B-B14F-4D97-AF65-F5344CB8AC3E}">
        <p14:creationId xmlns:p14="http://schemas.microsoft.com/office/powerpoint/2010/main" val="70763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B916266-2922-41AE-BB9A-0E75A4DF5522}" type="slidenum">
              <a:rPr lang="en-US" smtClean="0"/>
              <a:t>1</a:t>
            </a:fld>
            <a:endParaRPr lang="en-US"/>
          </a:p>
        </p:txBody>
      </p:sp>
    </p:spTree>
    <p:extLst>
      <p:ext uri="{BB962C8B-B14F-4D97-AF65-F5344CB8AC3E}">
        <p14:creationId xmlns:p14="http://schemas.microsoft.com/office/powerpoint/2010/main" val="831203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0D601EB-898D-45EB-AF02-BDBAAC1BCF6B}" type="datetime1">
              <a:rPr lang="en-US" smtClean="0"/>
              <a:t>2/15/2026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70196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2CAF6E-30C6-4892-8ECC-28B98795E53E}" type="datetime1">
              <a:rPr lang="en-US" smtClean="0"/>
              <a:t>2/15/2026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466879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30014B-F72F-459C-9AEA-83526BA1950E}" type="datetime1">
              <a:rPr lang="en-US" smtClean="0"/>
              <a:t>2/15/2026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46487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CD3470D-456E-4B74-9504-3BED3E1E331F}" type="datetime1">
              <a:rPr lang="en-US" smtClean="0"/>
              <a:t>2/15/2026</a:t>
            </a:fld>
            <a:endParaRPr lang="en-US"/>
          </a:p>
        </p:txBody>
      </p:sp>
      <p:sp>
        <p:nvSpPr>
          <p:cNvPr id="6" name="Footer Placeholder 5"/>
          <p:cNvSpPr>
            <a:spLocks noGrp="1"/>
          </p:cNvSpPr>
          <p:nvPr>
            <p:ph type="ftr" sz="quarter" idx="11"/>
          </p:nvPr>
        </p:nvSpPr>
        <p:spPr/>
        <p:txBody>
          <a:bodyPr/>
          <a:lstStyle/>
          <a:p>
            <a:r>
              <a:rPr lang="en-US"/>
              <a:t>DEPARTMENT OF COMPUTER SCIENCE AND ENGINEERING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26075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F57A5D-D22F-444E-B503-748AF7911620}" type="datetime1">
              <a:rPr lang="en-US" smtClean="0"/>
              <a:t>2/15/2026</a:t>
            </a:fld>
            <a:endParaRPr lang="en-US"/>
          </a:p>
        </p:txBody>
      </p:sp>
      <p:sp>
        <p:nvSpPr>
          <p:cNvPr id="8" name="Footer Placeholder 7"/>
          <p:cNvSpPr>
            <a:spLocks noGrp="1"/>
          </p:cNvSpPr>
          <p:nvPr>
            <p:ph type="ftr" sz="quarter" idx="11"/>
          </p:nvPr>
        </p:nvSpPr>
        <p:spPr/>
        <p:txBody>
          <a:bodyPr/>
          <a:lstStyle/>
          <a:p>
            <a:r>
              <a:rPr lang="en-US"/>
              <a:t>DEPARTMENT OF COMPUTER SCIENCE AND ENGINEERING - INTERNET OF THINGS</a:t>
            </a:r>
          </a:p>
        </p:txBody>
      </p:sp>
      <p:sp>
        <p:nvSpPr>
          <p:cNvPr id="9" name="Slide Number Placeholder 8"/>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74749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F4DC5B-AE6E-413C-999F-2C6DCDB27E54}" type="datetime1">
              <a:rPr lang="en-US" smtClean="0"/>
              <a:t>2/15/2026</a:t>
            </a:fld>
            <a:endParaRPr lang="en-US"/>
          </a:p>
        </p:txBody>
      </p:sp>
      <p:sp>
        <p:nvSpPr>
          <p:cNvPr id="4" name="Footer Placeholder 3"/>
          <p:cNvSpPr>
            <a:spLocks noGrp="1"/>
          </p:cNvSpPr>
          <p:nvPr>
            <p:ph type="ftr" sz="quarter" idx="11"/>
          </p:nvPr>
        </p:nvSpPr>
        <p:spPr/>
        <p:txBody>
          <a:bodyPr/>
          <a:lstStyle/>
          <a:p>
            <a:r>
              <a:rPr lang="en-US"/>
              <a:t>DEPARTMENT OF COMPUTER SCIENCE AND ENGINEERING - INTERNET OF THINGS</a:t>
            </a:r>
          </a:p>
        </p:txBody>
      </p:sp>
      <p:sp>
        <p:nvSpPr>
          <p:cNvPr id="5" name="Slide Number Placeholder 4"/>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13854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17F5AD-FB09-4176-8819-3235C853B628}" type="datetime1">
              <a:rPr lang="en-US" smtClean="0"/>
              <a:t>2/15/2026</a:t>
            </a:fld>
            <a:endParaRPr lang="en-US"/>
          </a:p>
        </p:txBody>
      </p:sp>
      <p:sp>
        <p:nvSpPr>
          <p:cNvPr id="3" name="Footer Placeholder 2"/>
          <p:cNvSpPr>
            <a:spLocks noGrp="1"/>
          </p:cNvSpPr>
          <p:nvPr>
            <p:ph type="ftr" sz="quarter" idx="11"/>
          </p:nvPr>
        </p:nvSpPr>
        <p:spPr/>
        <p:txBody>
          <a:bodyPr/>
          <a:lstStyle/>
          <a:p>
            <a:r>
              <a:rPr lang="en-US"/>
              <a:t>DEPARTMENT OF COMPUTER SCIENCE AND ENGINEERING - INTERNET OF THINGS</a:t>
            </a:r>
          </a:p>
        </p:txBody>
      </p:sp>
      <p:sp>
        <p:nvSpPr>
          <p:cNvPr id="4" name="Slide Number Placeholder 3"/>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14730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0BFC23-F62A-4DCF-8A7C-23F35CFA6295}" type="datetime1">
              <a:rPr lang="en-US" smtClean="0"/>
              <a:t>2/15/2026</a:t>
            </a:fld>
            <a:endParaRPr lang="en-US"/>
          </a:p>
        </p:txBody>
      </p:sp>
      <p:sp>
        <p:nvSpPr>
          <p:cNvPr id="6" name="Footer Placeholder 5"/>
          <p:cNvSpPr>
            <a:spLocks noGrp="1"/>
          </p:cNvSpPr>
          <p:nvPr>
            <p:ph type="ftr" sz="quarter" idx="11"/>
          </p:nvPr>
        </p:nvSpPr>
        <p:spPr/>
        <p:txBody>
          <a:bodyPr/>
          <a:lstStyle/>
          <a:p>
            <a:r>
              <a:rPr lang="en-US"/>
              <a:t>DEPARTMENT OF COMPUTER SCIENCE AND ENGINEERING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798404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BC4C3F-A6B3-439C-BF6D-6DFD3A565AFB}" type="datetime1">
              <a:rPr lang="en-US" smtClean="0"/>
              <a:t>2/15/2026</a:t>
            </a:fld>
            <a:endParaRPr lang="en-US"/>
          </a:p>
        </p:txBody>
      </p:sp>
      <p:sp>
        <p:nvSpPr>
          <p:cNvPr id="6" name="Footer Placeholder 5"/>
          <p:cNvSpPr>
            <a:spLocks noGrp="1"/>
          </p:cNvSpPr>
          <p:nvPr>
            <p:ph type="ftr" sz="quarter" idx="11"/>
          </p:nvPr>
        </p:nvSpPr>
        <p:spPr/>
        <p:txBody>
          <a:bodyPr/>
          <a:lstStyle/>
          <a:p>
            <a:r>
              <a:rPr lang="en-US"/>
              <a:t>DEPARTMENT OF COMPUTER SCIENCE AND ENGINEERING - INTERNET OF THINGS</a:t>
            </a:r>
          </a:p>
        </p:txBody>
      </p:sp>
      <p:sp>
        <p:nvSpPr>
          <p:cNvPr id="7" name="Slide Number Placeholder 6"/>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21677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894F03-ECCF-40AC-9049-09ECFD328156}" type="datetime1">
              <a:rPr lang="en-US" smtClean="0"/>
              <a:t>2/15/2026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384521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16A059-A3AC-4C78-B822-ABB2B55C89C2}" type="datetime1">
              <a:rPr lang="en-US" smtClean="0"/>
              <a:t>2/15/2026</a:t>
            </a:fld>
            <a:endParaRPr lang="en-US"/>
          </a:p>
        </p:txBody>
      </p:sp>
      <p:sp>
        <p:nvSpPr>
          <p:cNvPr id="5" name="Footer Placeholder 4"/>
          <p:cNvSpPr>
            <a:spLocks noGrp="1"/>
          </p:cNvSpPr>
          <p:nvPr>
            <p:ph type="ftr" sz="quarter" idx="11"/>
          </p:nvPr>
        </p:nvSpPr>
        <p:spPr/>
        <p:txBody>
          <a:bodyPr/>
          <a:lstStyle/>
          <a:p>
            <a:r>
              <a:rPr lang="en-US"/>
              <a:t>DEPARTMENT OF COMPUTER SCIENCE AND ENGINEERING - INTERNET OF THINGS</a:t>
            </a:r>
          </a:p>
        </p:txBody>
      </p:sp>
      <p:sp>
        <p:nvSpPr>
          <p:cNvPr id="6" name="Slide Number Placeholder 5"/>
          <p:cNvSpPr>
            <a:spLocks noGrp="1"/>
          </p:cNvSpPr>
          <p:nvPr>
            <p:ph type="sldNum" sz="quarter" idx="12"/>
          </p:nvPr>
        </p:nvSpPr>
        <p:spPr/>
        <p:txBody>
          <a:bodyPr/>
          <a:lstStyle/>
          <a:p>
            <a:fld id="{BECDEB80-DBCE-406A-80BF-FEBEE692EE79}" type="slidenum">
              <a:rPr lang="en-US" smtClean="0"/>
              <a:t>‹#›</a:t>
            </a:fld>
            <a:endParaRPr lang="en-US"/>
          </a:p>
        </p:txBody>
      </p:sp>
    </p:spTree>
    <p:extLst>
      <p:ext uri="{BB962C8B-B14F-4D97-AF65-F5344CB8AC3E}">
        <p14:creationId xmlns:p14="http://schemas.microsoft.com/office/powerpoint/2010/main" val="1398110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053B32-2D0D-46EA-AEFE-E5001DBB2FF4}" type="datetime1">
              <a:rPr lang="en-US" smtClean="0"/>
              <a:t>2/15/2026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AND ENGINEERING - INTERNET OF THINGS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DEB80-DBCE-406A-80BF-FEBEE692EE79}" type="slidenum">
              <a:rPr lang="en-US" smtClean="0"/>
              <a:t>‹#›</a:t>
            </a:fld>
            <a:endParaRPr lang="en-US"/>
          </a:p>
        </p:txBody>
      </p:sp>
    </p:spTree>
    <p:extLst>
      <p:ext uri="{BB962C8B-B14F-4D97-AF65-F5344CB8AC3E}">
        <p14:creationId xmlns:p14="http://schemas.microsoft.com/office/powerpoint/2010/main" val="2941625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92867" y="125730"/>
            <a:ext cx="6781800" cy="1330326"/>
          </a:xfrm>
        </p:spPr>
        <p:txBody>
          <a:bodyPr>
            <a:noAutofit/>
          </a:bodyPr>
          <a:lstStyle/>
          <a:p>
            <a:r>
              <a:rPr lang="en-US" sz="2000" b="1" dirty="0">
                <a:latin typeface="Bookman Old Style" panose="02050604050505020204" pitchFamily="18" charset="0"/>
                <a:cs typeface="Times New Roman" panose="02020603050405020304" charset="0"/>
              </a:rPr>
              <a:t>SRM INSTITUTE OF SCIENCE AND TECHNOLOGY</a:t>
            </a:r>
            <a:br>
              <a:rPr lang="en-US" sz="1800" b="1" dirty="0">
                <a:latin typeface="Bookman Old Style" panose="02050604050505020204" pitchFamily="18" charset="0"/>
                <a:cs typeface="Times New Roman" panose="02020603050405020304" charset="0"/>
              </a:rPr>
            </a:br>
            <a:r>
              <a:rPr lang="en-US" sz="1800" dirty="0" err="1">
                <a:latin typeface="Arial" panose="020B0604020202020204" pitchFamily="34" charset="0"/>
                <a:cs typeface="Arial" panose="020B0604020202020204" pitchFamily="34" charset="0"/>
              </a:rPr>
              <a:t>Ramapuram</a:t>
            </a:r>
            <a:r>
              <a:rPr lang="en-US" sz="1800" dirty="0">
                <a:latin typeface="Arial" panose="020B0604020202020204" pitchFamily="34" charset="0"/>
                <a:cs typeface="Arial" panose="020B0604020202020204" pitchFamily="34" charset="0"/>
              </a:rPr>
              <a:t>, Chennai – 600 089.</a:t>
            </a:r>
            <a:br>
              <a:rPr lang="en-US" sz="1800" b="1" dirty="0">
                <a:latin typeface="Bookman Old Style" panose="02050604050505020204" pitchFamily="18" charset="0"/>
                <a:cs typeface="Times New Roman" panose="02020603050405020304" charset="0"/>
              </a:rPr>
            </a:br>
            <a:r>
              <a:rPr lang="en-US" sz="1600" b="1" dirty="0">
                <a:latin typeface="Bookman Old Style" panose="02050604050505020204" pitchFamily="18" charset="0"/>
                <a:cs typeface="Times New Roman" panose="02020603050405020304" charset="0"/>
              </a:rPr>
              <a:t>DEPARTMENT OF COMPUTER SCIENCE AND ENGINEERING</a:t>
            </a:r>
            <a:br>
              <a:rPr lang="en-US" sz="1600" b="1" dirty="0">
                <a:latin typeface="Bookman Old Style" panose="02050604050505020204" pitchFamily="18" charset="0"/>
                <a:cs typeface="Times New Roman" panose="02020603050405020304" charset="0"/>
              </a:rPr>
            </a:br>
            <a:endParaRPr lang="en-US" sz="1800" dirty="0">
              <a:latin typeface="Bookman Old Style" panose="02050604050505020204" pitchFamily="18" charset="0"/>
            </a:endParaRPr>
          </a:p>
        </p:txBody>
      </p:sp>
      <p:sp>
        <p:nvSpPr>
          <p:cNvPr id="3" name="Subtitle 2"/>
          <p:cNvSpPr>
            <a:spLocks noGrp="1"/>
          </p:cNvSpPr>
          <p:nvPr>
            <p:ph type="subTitle" idx="1"/>
          </p:nvPr>
        </p:nvSpPr>
        <p:spPr>
          <a:xfrm>
            <a:off x="533400" y="1503047"/>
            <a:ext cx="8001000" cy="2178684"/>
          </a:xfrm>
        </p:spPr>
        <p:txBody>
          <a:bodyPr>
            <a:noAutofit/>
          </a:bodyPr>
          <a:lstStyle/>
          <a:p>
            <a:r>
              <a:rPr lang="en-US" sz="2800" b="1" dirty="0">
                <a:solidFill>
                  <a:schemeClr val="tx1"/>
                </a:solidFill>
                <a:latin typeface="Arial Rounded MT Bold" panose="020F0704030504030204" pitchFamily="34" charset="0"/>
                <a:cs typeface="Times New Roman" panose="02020603050405020304" pitchFamily="18" charset="0"/>
              </a:rPr>
              <a:t>21CSC205P </a:t>
            </a:r>
            <a:r>
              <a:rPr lang="en-IN" sz="2800" b="1" dirty="0">
                <a:solidFill>
                  <a:schemeClr val="tx1"/>
                </a:solidFill>
                <a:latin typeface="Arial Rounded MT Bold" panose="020F0704030504030204" pitchFamily="34" charset="0"/>
                <a:cs typeface="Times New Roman" panose="02020603050405020304" pitchFamily="18" charset="0"/>
              </a:rPr>
              <a:t>– DATABASE MANAGEMENT SYSTEM - PROJECT</a:t>
            </a:r>
            <a:endParaRPr lang="en-US" sz="2800" b="1" dirty="0">
              <a:solidFill>
                <a:schemeClr val="tx1"/>
              </a:solidFill>
              <a:latin typeface="Arial Rounded MT Bold" panose="020F0704030504030204" pitchFamily="34"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ONLINE ASSIGNMENT SYSTEM </a:t>
            </a:r>
          </a:p>
          <a:p>
            <a:r>
              <a:rPr lang="en-US" dirty="0">
                <a:solidFill>
                  <a:srgbClr val="FF0000"/>
                </a:solidFill>
                <a:latin typeface="Times New Roman" panose="02020603050405020304" pitchFamily="18" charset="0"/>
                <a:cs typeface="Times New Roman" panose="02020603050405020304" pitchFamily="18" charset="0"/>
              </a:rPr>
              <a:t>BATCH NUMBER : 2</a:t>
            </a:r>
          </a:p>
          <a:p>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chemeClr val="tx1"/>
                </a:solidFill>
              </a:rPr>
              <a:t>                  </a:t>
            </a:r>
          </a:p>
        </p:txBody>
      </p:sp>
      <p:sp>
        <p:nvSpPr>
          <p:cNvPr id="5" name="Subtitle 2"/>
          <p:cNvSpPr txBox="1">
            <a:spLocks/>
          </p:cNvSpPr>
          <p:nvPr/>
        </p:nvSpPr>
        <p:spPr>
          <a:xfrm>
            <a:off x="1633728" y="3276600"/>
            <a:ext cx="6400800" cy="8382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endParaRPr lang="en-US" dirty="0">
              <a:solidFill>
                <a:schemeClr val="tx1"/>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303594348"/>
              </p:ext>
            </p:extLst>
          </p:nvPr>
        </p:nvGraphicFramePr>
        <p:xfrm>
          <a:off x="381000" y="3810000"/>
          <a:ext cx="8610600" cy="2727960"/>
        </p:xfrm>
        <a:graphic>
          <a:graphicData uri="http://schemas.openxmlformats.org/drawingml/2006/table">
            <a:tbl>
              <a:tblPr firstRow="1" bandRow="1">
                <a:tableStyleId>{BDBED569-4797-4DF1-A0F4-6AAB3CD982D8}</a:tableStyleId>
              </a:tblPr>
              <a:tblGrid>
                <a:gridCol w="6114616">
                  <a:extLst>
                    <a:ext uri="{9D8B030D-6E8A-4147-A177-3AD203B41FA5}">
                      <a16:colId xmlns:a16="http://schemas.microsoft.com/office/drawing/2014/main" val="20000"/>
                    </a:ext>
                  </a:extLst>
                </a:gridCol>
                <a:gridCol w="2495984">
                  <a:extLst>
                    <a:ext uri="{9D8B030D-6E8A-4147-A177-3AD203B41FA5}">
                      <a16:colId xmlns:a16="http://schemas.microsoft.com/office/drawing/2014/main" val="20001"/>
                    </a:ext>
                  </a:extLst>
                </a:gridCol>
              </a:tblGrid>
              <a:tr h="304800">
                <a:tc>
                  <a:txBody>
                    <a:bodyPr/>
                    <a:lstStyle/>
                    <a:p>
                      <a:r>
                        <a:rPr lang="en-US" dirty="0"/>
                        <a:t>Team Members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Supervisor</a:t>
                      </a:r>
                    </a:p>
                  </a:txBody>
                  <a:tcPr/>
                </a:tc>
                <a:extLst>
                  <a:ext uri="{0D108BD9-81ED-4DB2-BD59-A6C34878D82A}">
                    <a16:rowId xmlns:a16="http://schemas.microsoft.com/office/drawing/2014/main" val="10000"/>
                  </a:ext>
                </a:extLst>
              </a:tr>
              <a:tr h="2362200">
                <a:tc gridSpan="2">
                  <a:txBody>
                    <a:bodyPr/>
                    <a:lstStyle/>
                    <a:p>
                      <a:r>
                        <a:rPr lang="en-US" dirty="0">
                          <a:solidFill>
                            <a:srgbClr val="FF0000"/>
                          </a:solidFill>
                          <a:latin typeface="Times New Roman" panose="02020603050405020304" pitchFamily="18" charset="0"/>
                          <a:cs typeface="Times New Roman" panose="02020603050405020304" pitchFamily="18" charset="0"/>
                        </a:rPr>
                        <a:t>Team Members (</a:t>
                      </a:r>
                      <a:r>
                        <a:rPr lang="en-US" baseline="0" dirty="0">
                          <a:solidFill>
                            <a:srgbClr val="FF0000"/>
                          </a:solidFill>
                          <a:latin typeface="Times New Roman" panose="02020603050405020304" pitchFamily="18" charset="0"/>
                          <a:cs typeface="Times New Roman" panose="02020603050405020304" pitchFamily="18" charset="0"/>
                        </a:rPr>
                        <a:t> Name &amp; Reg. No) : </a:t>
                      </a:r>
                      <a:r>
                        <a:rPr lang="en-US" b="1" baseline="0" dirty="0">
                          <a:solidFill>
                            <a:srgbClr val="FF0000"/>
                          </a:solidFill>
                          <a:latin typeface="Times New Roman" panose="02020603050405020304" pitchFamily="18" charset="0"/>
                          <a:cs typeface="Times New Roman" panose="02020603050405020304" pitchFamily="18" charset="0"/>
                        </a:rPr>
                        <a:t>CSE F Core </a:t>
                      </a:r>
                    </a:p>
                    <a:p>
                      <a:pPr marL="285750" indent="-285750">
                        <a:buFont typeface="Arial" panose="020B0604020202020204" pitchFamily="34" charset="0"/>
                        <a:buChar char="•"/>
                      </a:pPr>
                      <a:r>
                        <a:rPr lang="en-US" b="1" baseline="0" dirty="0">
                          <a:solidFill>
                            <a:srgbClr val="FF0000"/>
                          </a:solidFill>
                          <a:latin typeface="Times New Roman" panose="02020603050405020304" pitchFamily="18" charset="0"/>
                          <a:cs typeface="Times New Roman" panose="02020603050405020304" pitchFamily="18" charset="0"/>
                        </a:rPr>
                        <a:t>Mogarala Jahnavi – RA2411003020351</a:t>
                      </a:r>
                    </a:p>
                    <a:p>
                      <a:pPr marL="285750" indent="-285750">
                        <a:buFont typeface="Arial" panose="020B0604020202020204" pitchFamily="34" charset="0"/>
                        <a:buChar char="•"/>
                      </a:pPr>
                      <a:r>
                        <a:rPr lang="en-US" b="1" baseline="0" dirty="0" err="1">
                          <a:solidFill>
                            <a:srgbClr val="FF0000"/>
                          </a:solidFill>
                          <a:latin typeface="Times New Roman" panose="02020603050405020304" pitchFamily="18" charset="0"/>
                          <a:cs typeface="Times New Roman" panose="02020603050405020304" pitchFamily="18" charset="0"/>
                        </a:rPr>
                        <a:t>Prathiksa</a:t>
                      </a:r>
                      <a:r>
                        <a:rPr lang="en-US" b="1" baseline="0" dirty="0">
                          <a:solidFill>
                            <a:srgbClr val="FF0000"/>
                          </a:solidFill>
                          <a:latin typeface="Times New Roman" panose="02020603050405020304" pitchFamily="18" charset="0"/>
                          <a:cs typeface="Times New Roman" panose="02020603050405020304" pitchFamily="18" charset="0"/>
                        </a:rPr>
                        <a:t> G – RA2411003020373</a:t>
                      </a:r>
                    </a:p>
                    <a:p>
                      <a:pPr marL="285750" indent="-285750">
                        <a:buFont typeface="Arial" panose="020B0604020202020204" pitchFamily="34" charset="0"/>
                        <a:buChar char="•"/>
                      </a:pPr>
                      <a:r>
                        <a:rPr lang="en-US" b="1" baseline="0" dirty="0">
                          <a:solidFill>
                            <a:srgbClr val="FF0000"/>
                          </a:solidFill>
                          <a:latin typeface="Times New Roman" panose="02020603050405020304" pitchFamily="18" charset="0"/>
                          <a:cs typeface="Times New Roman" panose="02020603050405020304" pitchFamily="18" charset="0"/>
                        </a:rPr>
                        <a:t>Nikethana S – RA2411003020369</a:t>
                      </a:r>
                      <a:endParaRPr lang="en-US" b="1"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endParaRPr lang="en-US" dirty="0">
                        <a:solidFill>
                          <a:srgbClr val="FF0000"/>
                        </a:solidFill>
                        <a:latin typeface="Times New Roman" panose="02020603050405020304" pitchFamily="18" charset="0"/>
                        <a:cs typeface="Times New Roman" panose="02020603050405020304" pitchFamily="18" charset="0"/>
                      </a:endParaRPr>
                    </a:p>
                    <a:p>
                      <a:pPr algn="ctr"/>
                      <a:r>
                        <a:rPr lang="en-US" b="1" dirty="0">
                          <a:solidFill>
                            <a:schemeClr val="tx1"/>
                          </a:solidFill>
                          <a:latin typeface="Times New Roman" panose="02020603050405020304" pitchFamily="18" charset="0"/>
                          <a:cs typeface="Times New Roman" panose="02020603050405020304" pitchFamily="18" charset="0"/>
                        </a:rPr>
                        <a:t>Supervisor Name &amp; Designation</a:t>
                      </a:r>
                    </a:p>
                    <a:p>
                      <a:pPr algn="ctr"/>
                      <a:r>
                        <a:rPr lang="en-US" dirty="0" err="1">
                          <a:solidFill>
                            <a:srgbClr val="FF0000"/>
                          </a:solidFill>
                          <a:latin typeface="Times New Roman" panose="02020603050405020304" pitchFamily="18" charset="0"/>
                          <a:cs typeface="Times New Roman" panose="02020603050405020304" pitchFamily="18" charset="0"/>
                        </a:rPr>
                        <a:t>Mr.D.Hariharasudhan</a:t>
                      </a:r>
                      <a:endParaRPr lang="en-US" dirty="0">
                        <a:solidFill>
                          <a:srgbClr val="FF0000"/>
                        </a:solidFill>
                        <a:latin typeface="Times New Roman" panose="02020603050405020304" pitchFamily="18" charset="0"/>
                        <a:cs typeface="Times New Roman" panose="02020603050405020304" pitchFamily="18" charset="0"/>
                      </a:endParaRPr>
                    </a:p>
                  </a:txBody>
                  <a:tcPr/>
                </a:tc>
                <a:tc hMerge="1">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
        <p:nvSpPr>
          <p:cNvPr id="7" name="Footer Placeholder 6"/>
          <p:cNvSpPr>
            <a:spLocks noGrp="1"/>
          </p:cNvSpPr>
          <p:nvPr>
            <p:ph type="ftr" sz="quarter" idx="11"/>
          </p:nvPr>
        </p:nvSpPr>
        <p:spPr>
          <a:xfrm>
            <a:off x="533399" y="6584951"/>
            <a:ext cx="8441267" cy="273049"/>
          </a:xfrm>
        </p:spPr>
        <p:txBody>
          <a:bodyPr/>
          <a:lstStyle/>
          <a:p>
            <a:r>
              <a:rPr lang="en-US" dirty="0"/>
              <a:t>Date : 16-02-2026							Slide Number</a:t>
            </a:r>
          </a:p>
          <a:p>
            <a:endParaRPr lang="en-US" dirty="0"/>
          </a:p>
        </p:txBody>
      </p:sp>
      <p:pic>
        <p:nvPicPr>
          <p:cNvPr id="4" name="Picture 3"/>
          <p:cNvPicPr>
            <a:picLocks noChangeAspect="1"/>
          </p:cNvPicPr>
          <p:nvPr/>
        </p:nvPicPr>
        <p:blipFill>
          <a:blip r:embed="rId3"/>
          <a:stretch>
            <a:fillRect/>
          </a:stretch>
        </p:blipFill>
        <p:spPr>
          <a:xfrm>
            <a:off x="228600" y="270173"/>
            <a:ext cx="1772248" cy="775851"/>
          </a:xfrm>
          <a:prstGeom prst="rect">
            <a:avLst/>
          </a:prstGeom>
        </p:spPr>
      </p:pic>
    </p:spTree>
    <p:extLst>
      <p:ext uri="{BB962C8B-B14F-4D97-AF65-F5344CB8AC3E}">
        <p14:creationId xmlns:p14="http://schemas.microsoft.com/office/powerpoint/2010/main" val="268442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endParaRPr dirty="0"/>
          </a:p>
        </p:txBody>
      </p:sp>
      <p:sp>
        <p:nvSpPr>
          <p:cNvPr id="3" name="Content Placeholder 2"/>
          <p:cNvSpPr>
            <a:spLocks noGrp="1"/>
          </p:cNvSpPr>
          <p:nvPr>
            <p:ph idx="1"/>
          </p:nvPr>
        </p:nvSpPr>
        <p:spPr/>
        <p:txBody>
          <a:bodyPr>
            <a:normAutofit fontScale="85000" lnSpcReduction="20000"/>
          </a:bodyPr>
          <a:lstStyle/>
          <a:p>
            <a:pPr algn="just"/>
            <a:r>
              <a:rPr lang="en-US" dirty="0"/>
              <a:t>The JKUAD Online Assignment Management System is a web-based academic platform developed to streamline the assignment submission and grading process within an educational institution. In modern academic environments, manual systems for managing assignments often result in inefficiencies, data redundancy, and lack of transparency. This project integrates Database Management System (DBMS) concepts with web technologies to provide a centralized, secure, and structured system for managing assignments. The system ensures proper storage, retrieval, and management of academic records using a relational SQL database.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normAutofit fontScale="92500" lnSpcReduction="20000"/>
          </a:bodyPr>
          <a:lstStyle/>
          <a:p>
            <a:pPr algn="just"/>
            <a:r>
              <a:rPr lang="en-US" dirty="0"/>
              <a:t>Educational institutions require an efficient system to manage assignments, submissions, grading, and student performance tracking. Existing manual systems lack automation, data integrity, and centralized control. There is no efficient way to monitor submission deadlines, maintain consistent grading records, or analyze academic performance. Therefore, a database-driven web application is required to manage assignments in a structured and reliable manner while ensuring data consistency and integrity.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Solution</a:t>
            </a:r>
          </a:p>
        </p:txBody>
      </p:sp>
      <p:sp>
        <p:nvSpPr>
          <p:cNvPr id="3" name="Content Placeholder 2"/>
          <p:cNvSpPr>
            <a:spLocks noGrp="1"/>
          </p:cNvSpPr>
          <p:nvPr>
            <p:ph idx="1"/>
          </p:nvPr>
        </p:nvSpPr>
        <p:spPr/>
        <p:txBody>
          <a:bodyPr>
            <a:normAutofit fontScale="92500" lnSpcReduction="20000"/>
          </a:bodyPr>
          <a:lstStyle/>
          <a:p>
            <a:pPr algn="just"/>
            <a:r>
              <a:rPr lang="en-US" dirty="0"/>
              <a:t>To address these issues, we developed the JKUAD Online Assignment Portal, a web-based system integrated with a MySQL database. The platform allows students to view assignments, submit their work, and track submission status. Faculty members can evaluate submissions, assign marks, and provide feedback. The system organizes assignments department-wise and ensures that all data is securely stored in a relational database with proper constraints and relationships. This solution enhances efficiency, transparency, and academic management through automation.</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Objectives</a:t>
            </a:r>
          </a:p>
        </p:txBody>
      </p:sp>
      <p:sp>
        <p:nvSpPr>
          <p:cNvPr id="3" name="Content Placeholder 2"/>
          <p:cNvSpPr>
            <a:spLocks noGrp="1"/>
          </p:cNvSpPr>
          <p:nvPr>
            <p:ph idx="1"/>
          </p:nvPr>
        </p:nvSpPr>
        <p:spPr/>
        <p:txBody>
          <a:bodyPr>
            <a:normAutofit fontScale="85000" lnSpcReduction="20000"/>
          </a:bodyPr>
          <a:lstStyle/>
          <a:p>
            <a:pPr algn="just"/>
            <a:r>
              <a:rPr lang="en-US" dirty="0"/>
              <a:t>The primary objective of this project is to design and implement a fully functional assignment management system using DBMS principles. The project aims to create a normalized relational database structure that eliminates redundancy and maintains data integrity. It also focuses on implementing CRUD (Create, Read, Update, Delete) operations, ensuring secure user authentication, and integrating frontend and backend technologies. Additionally, the system aims to demonstrate the practical application of SQL queries, relational modeling, and database connectivity in a real-world academic scenario.</a:t>
            </a:r>
          </a:p>
          <a:p>
            <a:pPr algn="just"/>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Scope of the Project</a:t>
            </a:r>
          </a:p>
        </p:txBody>
      </p:sp>
      <p:sp>
        <p:nvSpPr>
          <p:cNvPr id="3" name="Content Placeholder 2"/>
          <p:cNvSpPr>
            <a:spLocks noGrp="1"/>
          </p:cNvSpPr>
          <p:nvPr>
            <p:ph idx="1"/>
          </p:nvPr>
        </p:nvSpPr>
        <p:spPr/>
        <p:txBody>
          <a:bodyPr>
            <a:normAutofit fontScale="85000" lnSpcReduction="20000"/>
          </a:bodyPr>
          <a:lstStyle/>
          <a:p>
            <a:pPr algn="just"/>
            <a:r>
              <a:rPr lang="en-US" dirty="0"/>
              <a:t>The current scope of the project includes student and faculty login systems, assignment creation and submission management, grading functionality, department-wise filtering, and performance tracking. The system stores structured data related to students, subjects, departments, assignments, and submissions. In the future, the project can be extended to include cloud deployment, email notifications, advanced analytics dashboards, plagiarism detection systems, and mobile application integration. The design is scalable and can be implemented across multiple institutions.</a:t>
            </a:r>
          </a:p>
          <a:p>
            <a:pPr algn="just"/>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&amp; Technologies</a:t>
            </a:r>
          </a:p>
        </p:txBody>
      </p:sp>
      <p:sp>
        <p:nvSpPr>
          <p:cNvPr id="3" name="Content Placeholder 2"/>
          <p:cNvSpPr>
            <a:spLocks noGrp="1"/>
          </p:cNvSpPr>
          <p:nvPr>
            <p:ph idx="1"/>
          </p:nvPr>
        </p:nvSpPr>
        <p:spPr/>
        <p:txBody>
          <a:bodyPr>
            <a:normAutofit fontScale="70000" lnSpcReduction="20000"/>
          </a:bodyPr>
          <a:lstStyle/>
          <a:p>
            <a:pPr algn="just"/>
            <a:r>
              <a:rPr lang="en-US" dirty="0"/>
              <a:t>HTML, CSS, and JavaScript are used for frontend development to create a responsive and attractive user interface.</a:t>
            </a:r>
          </a:p>
          <a:p>
            <a:pPr algn="just"/>
            <a:r>
              <a:rPr lang="en-US" dirty="0"/>
              <a:t>PHP is used as the backend scripting language to manage server-side logic and database connectivity.</a:t>
            </a:r>
          </a:p>
          <a:p>
            <a:pPr algn="just"/>
            <a:r>
              <a:rPr lang="en-US" dirty="0"/>
              <a:t>MySQL is used as the relational database management system to store and manage structured academic data.</a:t>
            </a:r>
          </a:p>
          <a:p>
            <a:pPr algn="just"/>
            <a:r>
              <a:rPr lang="en-US" dirty="0"/>
              <a:t>The system is developed and tested in a local server environment using XAMPP.</a:t>
            </a:r>
          </a:p>
          <a:p>
            <a:pPr algn="just"/>
            <a:r>
              <a:rPr lang="en-US" dirty="0"/>
              <a:t>These technologies together form a full-stack web application integrated with a structured SQL database.</a:t>
            </a:r>
          </a:p>
          <a:p>
            <a:pPr algn="just"/>
            <a:r>
              <a:rPr lang="en-US" dirty="0"/>
              <a:t>The website was developed using Visual Studio Code and hosted online through GitHub for version control and project deployment.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Team Work Distribution</a:t>
            </a:r>
          </a:p>
        </p:txBody>
      </p:sp>
      <p:sp>
        <p:nvSpPr>
          <p:cNvPr id="3" name="Content Placeholder 2"/>
          <p:cNvSpPr>
            <a:spLocks noGrp="1"/>
          </p:cNvSpPr>
          <p:nvPr>
            <p:ph idx="1"/>
          </p:nvPr>
        </p:nvSpPr>
        <p:spPr/>
        <p:txBody>
          <a:bodyPr/>
          <a:lstStyle/>
          <a:p>
            <a:r>
              <a:rPr lang="en-IN" dirty="0"/>
              <a:t>Jahnavi Mogarala </a:t>
            </a:r>
            <a:r>
              <a:rPr dirty="0"/>
              <a:t>– </a:t>
            </a:r>
            <a:r>
              <a:rPr lang="en-IN" dirty="0"/>
              <a:t>Frontend development, Backend integration</a:t>
            </a:r>
          </a:p>
          <a:p>
            <a:r>
              <a:rPr lang="en-IN" dirty="0" err="1"/>
              <a:t>Prathiksa</a:t>
            </a:r>
            <a:r>
              <a:rPr lang="en-IN" dirty="0"/>
              <a:t> G</a:t>
            </a:r>
            <a:r>
              <a:rPr dirty="0"/>
              <a:t>– </a:t>
            </a:r>
            <a:r>
              <a:rPr lang="en-IN" dirty="0"/>
              <a:t>SQL data insertion, UI Improvements</a:t>
            </a:r>
          </a:p>
          <a:p>
            <a:r>
              <a:rPr lang="en-IN" dirty="0"/>
              <a:t>Nikethana S </a:t>
            </a:r>
            <a:r>
              <a:rPr dirty="0"/>
              <a:t>– </a:t>
            </a:r>
            <a:r>
              <a:rPr lang="en-IN" dirty="0"/>
              <a:t>Documentation, Presentation </a:t>
            </a:r>
            <a:r>
              <a:rPr lang="en-IN" dirty="0" err="1"/>
              <a:t>Preperation</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Timeline (8 Weeks Plan)</a:t>
            </a:r>
          </a:p>
        </p:txBody>
      </p:sp>
      <p:sp>
        <p:nvSpPr>
          <p:cNvPr id="3" name="Content Placeholder 2"/>
          <p:cNvSpPr>
            <a:spLocks noGrp="1"/>
          </p:cNvSpPr>
          <p:nvPr>
            <p:ph idx="1"/>
          </p:nvPr>
        </p:nvSpPr>
        <p:spPr/>
        <p:txBody>
          <a:bodyPr/>
          <a:lstStyle/>
          <a:p>
            <a:r>
              <a:rPr dirty="0"/>
              <a:t>Week 1–2: </a:t>
            </a:r>
            <a:r>
              <a:rPr lang="en-IN" dirty="0"/>
              <a:t>Frontend Development</a:t>
            </a:r>
            <a:endParaRPr dirty="0"/>
          </a:p>
          <a:p>
            <a:r>
              <a:rPr dirty="0"/>
              <a:t>Week 3–4: </a:t>
            </a:r>
            <a:r>
              <a:rPr lang="en-IN" dirty="0"/>
              <a:t>Database Design and Implementation</a:t>
            </a:r>
            <a:endParaRPr dirty="0"/>
          </a:p>
          <a:p>
            <a:r>
              <a:rPr dirty="0"/>
              <a:t>Week 5–6: </a:t>
            </a:r>
            <a:r>
              <a:rPr lang="en-IN" dirty="0"/>
              <a:t>Backend Development and Integration</a:t>
            </a:r>
            <a:endParaRPr dirty="0"/>
          </a:p>
          <a:p>
            <a:r>
              <a:rPr dirty="0"/>
              <a:t>Week 7: </a:t>
            </a:r>
            <a:r>
              <a:rPr lang="en-IN" dirty="0"/>
              <a:t>Testing and Debugging</a:t>
            </a:r>
            <a:endParaRPr dirty="0"/>
          </a:p>
          <a:p>
            <a:r>
              <a:rPr dirty="0"/>
              <a:t>Week 8: </a:t>
            </a:r>
            <a:r>
              <a:rPr lang="en-US" dirty="0"/>
              <a:t>Documentation and Final Presentation Preparation</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Expected Outcomes</a:t>
            </a:r>
          </a:p>
        </p:txBody>
      </p:sp>
      <p:sp>
        <p:nvSpPr>
          <p:cNvPr id="3" name="Content Placeholder 2"/>
          <p:cNvSpPr>
            <a:spLocks noGrp="1"/>
          </p:cNvSpPr>
          <p:nvPr>
            <p:ph idx="1"/>
          </p:nvPr>
        </p:nvSpPr>
        <p:spPr/>
        <p:txBody>
          <a:bodyPr>
            <a:normAutofit lnSpcReduction="10000"/>
          </a:bodyPr>
          <a:lstStyle/>
          <a:p>
            <a:pPr algn="just"/>
            <a:r>
              <a:rPr lang="en-US" dirty="0"/>
              <a:t>The system is expected to reduce manual workload in academic institutions by automating assignment management processes. It provides a centralized and secure database system for storing academic data. The portal improves transparency between students and faculty by providing real-time tracking of submissions and grades. It also serves as a scalable model for institutional academic management systems.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fontScale="92500" lnSpcReduction="20000"/>
          </a:bodyPr>
          <a:lstStyle/>
          <a:p>
            <a:pPr algn="just"/>
            <a:r>
              <a:rPr lang="en-US" dirty="0"/>
              <a:t>The JKUAD Online Assignment Management System shows how DBMS concepts can be used in a real academic environment. This project combines database design, SQL queries, and frontend-backend integration to create a working web-based assignment portal. It demonstrates the importance of normalization, proper table relationships, and structured system design. Overall, this project meets academic requirements and provides a strong base for developing larger and more advanced systems in the future.</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E2A33E3-B4AE-2568-BE99-A30AB5DF7E8F}"/>
              </a:ext>
            </a:extLst>
          </p:cNvPr>
          <p:cNvSpPr>
            <a:spLocks noGrp="1"/>
          </p:cNvSpPr>
          <p:nvPr>
            <p:ph type="ftr" sz="quarter" idx="11"/>
          </p:nvPr>
        </p:nvSpPr>
        <p:spPr>
          <a:xfrm>
            <a:off x="1714500" y="2895600"/>
            <a:ext cx="5715000" cy="365125"/>
          </a:xfrm>
        </p:spPr>
        <p:txBody>
          <a:bodyPr/>
          <a:lstStyle/>
          <a:p>
            <a:r>
              <a:rPr lang="en-US" sz="7200" dirty="0">
                <a:solidFill>
                  <a:schemeClr val="tx1"/>
                </a:solidFill>
                <a:latin typeface="Algerian" panose="04020705040A02060702" pitchFamily="82" charset="0"/>
              </a:rPr>
              <a:t>THANK YOU </a:t>
            </a:r>
          </a:p>
        </p:txBody>
      </p:sp>
    </p:spTree>
    <p:extLst>
      <p:ext uri="{BB962C8B-B14F-4D97-AF65-F5344CB8AC3E}">
        <p14:creationId xmlns:p14="http://schemas.microsoft.com/office/powerpoint/2010/main" val="4137509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6609</TotalTime>
  <Words>852</Words>
  <Application>Microsoft Office PowerPoint</Application>
  <PresentationFormat>On-screen Show (4:3)</PresentationFormat>
  <Paragraphs>50</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Algerian</vt:lpstr>
      <vt:lpstr>Arial</vt:lpstr>
      <vt:lpstr>Arial Rounded MT Bold</vt:lpstr>
      <vt:lpstr>Bookman Old Style</vt:lpstr>
      <vt:lpstr>Calibri</vt:lpstr>
      <vt:lpstr>Times New Roman</vt:lpstr>
      <vt:lpstr>Office Theme</vt:lpstr>
      <vt:lpstr>SRM INSTITUTE OF SCIENCE AND TECHNOLOGY Ramapuram, Chennai – 600 089. DEPARTMENT OF COMPUTER SCIENCE AND ENGINEERING </vt:lpstr>
      <vt:lpstr>INTRODUCTION</vt:lpstr>
      <vt:lpstr>Problem Statement</vt:lpstr>
      <vt:lpstr>Proposed Solution</vt:lpstr>
      <vt:lpstr>Objectives</vt:lpstr>
      <vt:lpstr>Scope of the Project</vt:lpstr>
      <vt:lpstr>Tools &amp; Technologies</vt:lpstr>
      <vt:lpstr>Team Work Distribution</vt:lpstr>
      <vt:lpstr>Timeline (8 Weeks Plan)</vt:lpstr>
      <vt:lpstr>Expected Outcomes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Campus , Chennai – 600 089 DEPARTMENT OF COMPUTER SCIENCE AND ENGINEERING</dc:title>
  <dc:creator>DELL</dc:creator>
  <cp:lastModifiedBy>Jahnavi Mogarala</cp:lastModifiedBy>
  <cp:revision>34</cp:revision>
  <dcterms:created xsi:type="dcterms:W3CDTF">2023-07-26T03:49:14Z</dcterms:created>
  <dcterms:modified xsi:type="dcterms:W3CDTF">2026-02-15T16:41:32Z</dcterms:modified>
</cp:coreProperties>
</file>